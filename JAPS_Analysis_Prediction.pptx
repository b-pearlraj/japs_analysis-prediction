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4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7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charts/chart8.xml" ContentType="application/vnd.openxmlformats-officedocument.drawingml.chart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8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Missing %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00" u="none">
                    <a:solidFill>
                      <a:srgbClr val="1B2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Sheet1!$A$2:$A$10</c:f>
              <c:multiLvlStrCache>
                <c:ptCount val="9"/>
                <c:lvl>
                  <c:pt idx="0">
                    <c:v>relocation_willingness</c:v>
                  </c:pt>
                  <c:pt idx="1">
                    <c:v>layoff_history</c:v>
                  </c:pt>
                  <c:pt idx="2">
                    <c:v>career_switch_willingness</c:v>
                  </c:pt>
                  <c:pt idx="3">
                    <c:v>relevant_experience</c:v>
                  </c:pt>
                  <c:pt idx="4">
                    <c:v>job_role_match</c:v>
                  </c:pt>
                  <c:pt idx="5">
                    <c:v>ssc_percentage</c:v>
                  </c:pt>
                  <c:pt idx="6">
                    <c:v>hsc_percentage</c:v>
                  </c:pt>
                  <c:pt idx="7">
                    <c:v>notice_period_days</c:v>
                  </c:pt>
                  <c:pt idx="8">
                    <c:v>employment_gap_months</c:v>
                  </c:pt>
                </c:lvl>
              </c:multiLvlStrCache>
            </c:multiLvl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16.46</c:v>
                </c:pt>
                <c:pt idx="1">
                  <c:v>16.44</c:v>
                </c:pt>
                <c:pt idx="2">
                  <c:v>16.44</c:v>
                </c:pt>
                <c:pt idx="3">
                  <c:v>16.36</c:v>
                </c:pt>
                <c:pt idx="4">
                  <c:v>11.9</c:v>
                </c:pt>
                <c:pt idx="5">
                  <c:v>5.01</c:v>
                </c:pt>
                <c:pt idx="6">
                  <c:v>4.01</c:v>
                </c:pt>
                <c:pt idx="7">
                  <c:v>3.07</c:v>
                </c:pt>
                <c:pt idx="8">
                  <c:v>2.13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00" u="none">
                  <a:solidFill>
                    <a:srgbClr val="1B2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1B2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9525" cap="flat">
              <a:solidFill>
                <a:srgbClr val="E4EAE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Arial"/>
                  </a:rPr>
                  <a:t>% missing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B6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Status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28090"/>
              </a:solidFill>
              <a:effectLst/>
            </c:spPr>
          </c:dPt>
          <c:dPt>
            <c:idx val="1"/>
            <c:bubble3D val="0"/>
            <c:spPr>
              <a:solidFill>
                <a:srgbClr val="02C39A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inEnd"/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3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dLblPos val="inEnd"/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Not Placed</c:v>
                </c:pt>
                <c:pt idx="1">
                  <c:v>Placed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34870</c:v>
                </c:pt>
                <c:pt idx="1">
                  <c:v>15130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B2A2E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Not Placed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1B2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Technical</c:v>
                  </c:pt>
                  <c:pt idx="1">
                    <c:v>Aptitude</c:v>
                  </c:pt>
                  <c:pt idx="2">
                    <c:v>Communication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64.9</c:v>
                </c:pt>
                <c:pt idx="1">
                  <c:v>63.7</c:v>
                </c:pt>
                <c:pt idx="2">
                  <c:v>65.5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Placed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950" u="none">
                    <a:solidFill>
                      <a:srgbClr val="1B2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Technical</c:v>
                  </c:pt>
                  <c:pt idx="1">
                    <c:v>Aptitude</c:v>
                  </c:pt>
                  <c:pt idx="2">
                    <c:v>Communication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75.3</c:v>
                </c:pt>
                <c:pt idx="1">
                  <c:v>64.6</c:v>
                </c:pt>
                <c:pt idx="2">
                  <c:v>67.6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950" u="none">
                  <a:solidFill>
                    <a:srgbClr val="1B2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4EAE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Arial"/>
                  </a:rPr>
                  <a:t>Average score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B6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1B2A2E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Placement probability (%)</c:v>
                </c:pt>
              </c:strCache>
            </c:strRef>
          </c:tx>
          <c:spPr>
            <a:solidFill>
              <a:srgbClr val="028090"/>
            </a:solidFill>
            <a:ln w="38100" cap="flat">
              <a:solidFill>
                <a:srgbClr val="028090"/>
              </a:solidFill>
              <a:prstDash val="solid"/>
              <a:round/>
            </a:ln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A2E"/>
                    </a:solidFill>
                    <a:latin typeface="Arial"/>
                  </a:defRPr>
                </a:pPr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8"/>
            <c:spPr>
              <a:solidFill>
                <a:srgbClr val="028090"/>
              </a:solidFill>
              <a:ln w="9525" cap="flat">
                <a:solidFill>
                  <a:srgbClr val="02809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Sheet1!$A$2:$A$7</c:f>
              <c:multiLvlStrCache>
                <c:ptCount val="6"/>
                <c:lvl>
                  <c:pt idx="0">
                    <c:v>0</c:v>
                  </c:pt>
                  <c:pt idx="1">
                    <c:v>1</c:v>
                  </c:pt>
                  <c:pt idx="2">
                    <c:v>2</c:v>
                  </c:pt>
                  <c:pt idx="3">
                    <c:v>3</c:v>
                  </c:pt>
                  <c:pt idx="4">
                    <c:v>4</c:v>
                  </c:pt>
                  <c:pt idx="5">
                    <c:v>5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13.8</c:v>
                </c:pt>
                <c:pt idx="1">
                  <c:v>24.1</c:v>
                </c:pt>
                <c:pt idx="2">
                  <c:v>36.1</c:v>
                </c:pt>
                <c:pt idx="3">
                  <c:v>49</c:v>
                </c:pt>
                <c:pt idx="4">
                  <c:v>57.7</c:v>
                </c:pt>
                <c:pt idx="5">
                  <c:v>64.6</c:v>
                </c:pt>
              </c:numCache>
            </c:numRef>
          </c:val>
          <c:smooth val="0"/>
        </c:ser>
        <c:dLbls>
          <c:numFmt formatCode="0.0" sourceLinked="0"/>
          <c:txPr>
            <a:bodyPr/>
            <a:lstStyle/>
            <a:p>
              <a:pPr>
                <a:defRPr b="0" i="0" strike="noStrike" sz="1000" u="none">
                  <a:solidFill>
                    <a:srgbClr val="1B2A2E"/>
                  </a:solidFill>
                  <a:latin typeface="Arial"/>
                </a:defRPr>
              </a:pPr>
            </a:p>
          </c:txPr>
          <c:dLblPos val="t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Arial"/>
                  </a:rPr>
                  <a:t>Years of experience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B2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4EAE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Arial"/>
                  </a:rPr>
                  <a:t>Placement probability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B6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Placement rate %</c:v>
                </c:pt>
              </c:strCache>
            </c:strRef>
          </c:tx>
          <c:spPr>
            <a:solidFill>
              <a:srgbClr val="00A89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Tier 1</c:v>
                  </c:pt>
                  <c:pt idx="1">
                    <c:v>Tier 2</c:v>
                  </c:pt>
                  <c:pt idx="2">
                    <c:v>Tier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29.9</c:v>
                </c:pt>
                <c:pt idx="1">
                  <c:v>30.4</c:v>
                </c:pt>
                <c:pt idx="2">
                  <c:v>30.5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B2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</c:scaling>
        <c:delete val="0"/>
        <c:axPos val="l"/>
        <c:majorGridlines>
          <c:spPr>
            <a:ln w="9525" cap="flat">
              <a:solidFill>
                <a:srgbClr val="E4EA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B6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Placement rate %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1B2A2E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High</c:v>
                  </c:pt>
                  <c:pt idx="1">
                    <c:v>Medium</c:v>
                  </c:pt>
                  <c:pt idx="2">
                    <c:v>Low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23.8</c:v>
                </c:pt>
                <c:pt idx="1">
                  <c:v>31.9</c:v>
                </c:pt>
                <c:pt idx="2">
                  <c:v>31.9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1B2A2E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0"/>
        </c:scaling>
        <c:delete val="0"/>
        <c:axPos val="l"/>
        <c:majorGridlines>
          <c:spPr>
            <a:ln w="9525" cap="flat">
              <a:solidFill>
                <a:srgbClr val="E4EAEA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B6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Candidates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Not Placed</c:v>
                  </c:pt>
                  <c:pt idx="1">
                    <c:v>Placed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34870</c:v>
                </c:pt>
                <c:pt idx="1">
                  <c:v>15130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CADCD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07333A">
            <a:alpha val="0"/>
          </a:srgbClr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Logistic Regression</c:v>
                  </c:pt>
                  <c:pt idx="1">
                    <c:v>Random Forest</c:v>
                  </c:pt>
                  <c:pt idx="2">
                    <c:v>Decision Tree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86.78</c:v>
                </c:pt>
                <c:pt idx="1">
                  <c:v>88.31</c:v>
                </c:pt>
                <c:pt idx="2">
                  <c:v>84.59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Precision</c:v>
                </c:pt>
              </c:strCache>
            </c:strRef>
          </c:tx>
          <c:spPr>
            <a:solidFill>
              <a:srgbClr val="02C39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Logistic Regression</c:v>
                  </c:pt>
                  <c:pt idx="1">
                    <c:v>Random Forest</c:v>
                  </c:pt>
                  <c:pt idx="2">
                    <c:v>Decision Tree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79.77</c:v>
                </c:pt>
                <c:pt idx="1">
                  <c:v>85.29</c:v>
                </c:pt>
                <c:pt idx="2">
                  <c:v>75.26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Recall</c:v>
                </c:pt>
              </c:strCache>
            </c:strRef>
          </c:tx>
          <c:spPr>
            <a:solidFill>
              <a:srgbClr val="8FA6A3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Logistic Regression</c:v>
                  </c:pt>
                  <c:pt idx="1">
                    <c:v>Random Forest</c:v>
                  </c:pt>
                  <c:pt idx="2">
                    <c:v>Decision Tree</c:v>
                  </c:pt>
                </c:lvl>
              </c:multiLvlStrCache>
            </c:multiLvl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75.45</c:v>
                </c:pt>
                <c:pt idx="1">
                  <c:v>74.16</c:v>
                </c:pt>
                <c:pt idx="2">
                  <c:v>73.1</c:v>
                </c:pt>
              </c:numCache>
            </c:numRef>
          </c:val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F1 Score</c:v>
                </c:pt>
              </c:strCache>
            </c:strRef>
          </c:tx>
          <c:spPr>
            <a:solidFill>
              <a:srgbClr val="C3D3D1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Logistic Regression</c:v>
                  </c:pt>
                  <c:pt idx="1">
                    <c:v>Random Forest</c:v>
                  </c:pt>
                  <c:pt idx="2">
                    <c:v>Decision Tree</c:v>
                  </c:pt>
                </c:lvl>
              </c:multiLvlStrCache>
            </c:multiLvlStrRef>
          </c:cat>
          <c:val>
            <c:numRef>
              <c:f>Sheet1!$E$2:$E$4</c:f>
              <c:numCache>
                <c:formatCode>General</c:formatCode>
                <c:ptCount val="3"/>
                <c:pt idx="0">
                  <c:v>77.55</c:v>
                </c:pt>
                <c:pt idx="1">
                  <c:v>79.34</c:v>
                </c:pt>
                <c:pt idx="2">
                  <c:v>74.17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1B2A2E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E4EAEA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sz="1000" b="0" i="0" u="none" strike="noStrike">
                    <a:solidFill>
                      <a:srgbClr val="000000"/>
                    </a:solidFill>
                    <a:latin typeface="Arial"/>
                  </a:rPr>
                  <a:t>Score (%)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C6B6E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solidFill>
                <a:srgbClr val="1B2A2E"/>
              </a:solidFill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5.xml"/><Relationship Id="rId2" Type="http://schemas.openxmlformats.org/officeDocument/2006/relationships/chart" Target="/ppt/charts/chart6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8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73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3840480" cy="3840480"/>
          </a:xfrm>
          <a:prstGeom prst="ellipse">
            <a:avLst/>
          </a:prstGeom>
          <a:solidFill>
            <a:srgbClr val="0B4148"/>
          </a:solidFill>
          <a:ln/>
        </p:spPr>
      </p:sp>
      <p:sp>
        <p:nvSpPr>
          <p:cNvPr id="3" name="Shape 1"/>
          <p:cNvSpPr/>
          <p:nvPr/>
        </p:nvSpPr>
        <p:spPr>
          <a:xfrm>
            <a:off x="10698480" y="4572000"/>
            <a:ext cx="2743200" cy="27432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097280" y="5120640"/>
            <a:ext cx="3108960" cy="3108960"/>
          </a:xfrm>
          <a:prstGeom prst="ellipse">
            <a:avLst/>
          </a:prstGeom>
          <a:solidFill>
            <a:srgbClr val="0B4148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9659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HR ANALYTICS  •  MACHINE LEARNING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331720"/>
            <a:ext cx="9601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Job Acceptance Prediction System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822960" y="3429000"/>
            <a:ext cx="8686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&amp; Prediction of Candidate Placement Outcomes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47091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51,500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822960" y="5257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Records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703320" y="47091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3703320" y="5257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Features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6583680" y="470916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88.3%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583680" y="525780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 Accuracy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822960" y="6080760"/>
            <a:ext cx="8778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FB8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Candidate-level HR / job-placement dataset covering academics, skills, interview performance, job-market conditions and placement outcome.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analysis sets out to do, and the data it works with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2F7F7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8745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508760" y="1856232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Goal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468880"/>
            <a:ext cx="4800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 whether a candidate will be Placed or Not Placed, using academic, skills, interview and job-market attributes.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72200" y="160020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2F7F7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46520" y="18745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6446520" y="187452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132320" y="1856232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46520" y="2468880"/>
            <a:ext cx="4800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51,500 candidate records across 26 attributes: academics, technical/aptitude/communication scores, experience, CTC and company context.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402336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2F7F7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22960" y="42976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4297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1508760" y="4279392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Approach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4892040"/>
            <a:ext cx="4800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and engineer features on the raw data, explore patterns via EDA, then train and compare classification models.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72200" y="4023360"/>
            <a:ext cx="5349240" cy="2148840"/>
          </a:xfrm>
          <a:prstGeom prst="roundRect">
            <a:avLst>
              <a:gd name="adj" fmla="val 3404"/>
            </a:avLst>
          </a:prstGeom>
          <a:solidFill>
            <a:srgbClr val="F2F7F7"/>
          </a:solidFill>
          <a:ln/>
          <a:effectLst>
            <a:outerShdw sx="100000" sy="100000" kx="0" ky="0" algn="bl" rotWithShape="0" blurRad="76200" dist="25400" dir="5400000">
              <a:srgbClr val="666666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46520" y="429768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21" name="Text 19"/>
          <p:cNvSpPr/>
          <p:nvPr/>
        </p:nvSpPr>
        <p:spPr>
          <a:xfrm>
            <a:off x="6446520" y="42976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7132320" y="4279392"/>
            <a:ext cx="4160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Outcome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46520" y="4892040"/>
            <a:ext cx="48006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Random Forest classifier reaching 88.3% accuracy and 0.79 F1-score on held-out candidates, plus actionable HR insights.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Acceptance Prediction System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Understanding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profiling of the raw 51,500-row dataset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746504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18488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x Columns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246120" y="1618488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51,500 rows  ×  26 columns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48640" y="2368296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224028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rows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3246120" y="2240280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1,376 exact duplicates found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48640" y="2990088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862072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variable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246120" y="2862072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— Placed / Not Placed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611880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483864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features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246120" y="3483864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Percentages, scores, CTC, tenure fields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233672"/>
            <a:ext cx="109728" cy="10972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105656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Categorical features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3246120" y="4105656"/>
            <a:ext cx="3200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Gender, degree stream, tiers, willingness flags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6903720" y="155448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 Values by Column (Top 9)</a:t>
            </a:r>
            <a:endParaRPr lang="en-US" sz="1400" dirty="0"/>
          </a:p>
        </p:txBody>
      </p:sp>
      <p:graphicFrame>
        <p:nvGraphicFramePr>
          <p:cNvPr id="20" name="Chart 0" descr=""/>
          <p:cNvGraphicFramePr/>
          <p:nvPr/>
        </p:nvGraphicFramePr>
        <p:xfrm>
          <a:off x="6720840" y="1920240"/>
          <a:ext cx="502920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1" name="Text 18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Acceptance Prediction System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&amp; Preprocessing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Turning raw records into an analysis-ready dataset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6916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234440" y="1664208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Remove duplicates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4206240" y="1664208"/>
            <a:ext cx="7452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1,376 duplicate rows dropped: 51,500 → 50,124 rows.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206240" y="2478024"/>
            <a:ext cx="7452360" cy="0"/>
          </a:xfrm>
          <a:prstGeom prst="line">
            <a:avLst/>
          </a:prstGeom>
          <a:noFill/>
          <a:ln w="12700">
            <a:solidFill>
              <a:srgbClr val="E4EA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2587752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58775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234440" y="256032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Impute missing values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206240" y="2560320"/>
            <a:ext cx="7452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Median for numeric columns (ssc/hsc %, notice period, employment gap); mode for categorical columns (career switch, relevance, job match, layoff, relocation).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206240" y="3374136"/>
            <a:ext cx="7452360" cy="0"/>
          </a:xfrm>
          <a:prstGeom prst="line">
            <a:avLst/>
          </a:prstGeom>
          <a:noFill/>
          <a:ln w="12700">
            <a:solidFill>
              <a:srgbClr val="E4EA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483864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48386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234440" y="3456432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Standardize category labels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4206240" y="3456432"/>
            <a:ext cx="7452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Trimmed whitespace, collapsed repeated spaces, applied consistent title-case (e.g. 'yes '/' no' → 'Yes'/'No', 'Tier 2 ' → 'Tier 2').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4206240" y="4270248"/>
            <a:ext cx="7452360" cy="0"/>
          </a:xfrm>
          <a:prstGeom prst="line">
            <a:avLst/>
          </a:prstGeom>
          <a:noFill/>
          <a:ln w="12700">
            <a:solidFill>
              <a:srgbClr val="E4EAEA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48640" y="4379976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28090"/>
          </a:solidFill>
          <a:ln/>
        </p:spPr>
      </p:sp>
      <p:sp>
        <p:nvSpPr>
          <p:cNvPr id="20" name="Text 18"/>
          <p:cNvSpPr/>
          <p:nvPr/>
        </p:nvSpPr>
        <p:spPr>
          <a:xfrm>
            <a:off x="548640" y="437997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1234440" y="4352544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Logical consistency checks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4206240" y="4352544"/>
            <a:ext cx="7452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Reviewed age vs. experience, 0–100 score ranges, negative values, and expected-vs-previous CTC — flagged for business review, not auto-deleted.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206240" y="5166360"/>
            <a:ext cx="7452360" cy="0"/>
          </a:xfrm>
          <a:prstGeom prst="line">
            <a:avLst/>
          </a:prstGeom>
          <a:noFill/>
          <a:ln w="12700">
            <a:solidFill>
              <a:srgbClr val="E4EA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48640" y="5276088"/>
            <a:ext cx="457200" cy="457200"/>
          </a:xfrm>
          <a:prstGeom prst="roundRect">
            <a:avLst>
              <a:gd name="adj" fmla="val 50000"/>
            </a:avLst>
          </a:prstGeom>
          <a:solidFill>
            <a:srgbClr val="02C39A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5276088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1234440" y="5248656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Final verification</a:t>
            </a:r>
            <a:endParaRPr lang="en-US" sz="1350" dirty="0"/>
          </a:p>
        </p:txBody>
      </p:sp>
      <p:sp>
        <p:nvSpPr>
          <p:cNvPr id="27" name="Text 25"/>
          <p:cNvSpPr/>
          <p:nvPr/>
        </p:nvSpPr>
        <p:spPr>
          <a:xfrm>
            <a:off x="4206240" y="5248656"/>
            <a:ext cx="745236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missing values, 0 duplicates remaining → clean shape of 50,000 rows × 27 columns.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Acceptance Prediction System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Exploratory Analysis: Placement Outcome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Checking class balance before modeling</a:t>
            </a:r>
            <a:endParaRPr lang="en-US" sz="13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731520" y="1691640"/>
          <a:ext cx="493776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126480" y="1691640"/>
            <a:ext cx="5394960" cy="1234440"/>
          </a:xfrm>
          <a:prstGeom prst="roundRect">
            <a:avLst>
              <a:gd name="adj" fmla="val 5926"/>
            </a:avLst>
          </a:prstGeom>
          <a:solidFill>
            <a:srgbClr val="F2F7F7"/>
          </a:solidFill>
          <a:ln/>
        </p:spPr>
      </p:sp>
      <p:sp>
        <p:nvSpPr>
          <p:cNvPr id="6" name="Text 3"/>
          <p:cNvSpPr/>
          <p:nvPr/>
        </p:nvSpPr>
        <p:spPr>
          <a:xfrm>
            <a:off x="6355080" y="17830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809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69.7%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6355080" y="239572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Placed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(34,870 candidates)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961120" y="178308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30.3%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8961120" y="2395728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(15,130 candidates)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126480" y="324612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takeaway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126480" y="3611880"/>
            <a:ext cx="53949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dataset is moderately imbalanced (~70/30 split).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relies on Precision, Recall and F1-score for the 'Placed' class — accuracy alone would be misleading.</a:t>
            </a:r>
            <a:endParaRPr lang="en-US" sz="125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was trained with class_weight='balanced' to compensate.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Acceptance Prediction System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Interview Performance vs Placement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scores for placed vs. non-placed candidates</a:t>
            </a:r>
            <a:endParaRPr lang="en-US" sz="13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91640"/>
          <a:ext cx="658368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543800" y="17373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stands out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543800" y="2148840"/>
            <a:ext cx="4023360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score shows the widest gap: 75.3 (Placed) vs 64.9 (Not Placed) — a ~10.4 point difference.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Aptitude and Communication differ only slightly between groups.</a:t>
            </a:r>
            <a:endParaRPr lang="en-US" sz="1200" dirty="0"/>
          </a:p>
          <a:p>
            <a:pPr marL="342900" indent="-342900">
              <a:lnSpc>
                <a:spcPct val="120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Skills-match % is also visibly higher among placed candidates in the boxplot analysis.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7543800" y="4709160"/>
            <a:ext cx="4023360" cy="1143000"/>
          </a:xfrm>
          <a:prstGeom prst="roundRect">
            <a:avLst>
              <a:gd name="adj" fmla="val 6400"/>
            </a:avLst>
          </a:prstGeom>
          <a:solidFill>
            <a:srgbClr val="07333A"/>
          </a:solidFill>
          <a:ln/>
        </p:spPr>
      </p:sp>
      <p:sp>
        <p:nvSpPr>
          <p:cNvPr id="8" name="Text 5"/>
          <p:cNvSpPr/>
          <p:nvPr/>
        </p:nvSpPr>
        <p:spPr>
          <a:xfrm>
            <a:off x="7772400" y="4828032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ability is the strongest interview-stage differentiator between placed and non-placed candidates.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Acceptance Prediction System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Experience vs Placement Probability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 likelihood rises steadily with years of experience</a:t>
            </a:r>
            <a:endParaRPr lang="en-US" sz="13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1691640"/>
          <a:ext cx="6949440" cy="4297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818120" y="173736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insight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818120" y="2148840"/>
            <a:ext cx="374904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 probability rises from 13.8% (freshers) to 64.6% (5+ years).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additional year adds roughly 10 points of placement likelihood.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is one of the strongest single predictors of placement outcome.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Acceptance Prediction System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Company Tier &amp; Competition Level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job-market factors show a weaker relationship with placement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Placement Rate by Company Tier</a:t>
            </a:r>
            <a:endParaRPr lang="en-US" sz="14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920240"/>
          <a:ext cx="54864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6263640" y="1554480"/>
            <a:ext cx="5394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Placement Rate by Competition Level</a:t>
            </a:r>
            <a:endParaRPr lang="en-US" sz="1400" dirty="0"/>
          </a:p>
        </p:txBody>
      </p:sp>
      <p:graphicFrame>
        <p:nvGraphicFramePr>
          <p:cNvPr id="7" name="Chart 1" descr=""/>
          <p:cNvGraphicFramePr/>
          <p:nvPr/>
        </p:nvGraphicFramePr>
        <p:xfrm>
          <a:off x="6263640" y="1920240"/>
          <a:ext cx="54864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8" name="Text 4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Acceptance Prediction System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New, interpretable fields derived from the cleaned, original-scale data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658368"/>
          </a:xfrm>
          <a:prstGeom prst="roundRect">
            <a:avLst>
              <a:gd name="adj" fmla="val 9722"/>
            </a:avLst>
          </a:prstGeom>
          <a:solidFill>
            <a:srgbClr val="F2F7F7"/>
          </a:solidFill>
          <a:ln w="12700">
            <a:solidFill>
              <a:srgbClr val="E4EA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920240"/>
            <a:ext cx="201168" cy="20116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1188720" y="1691640"/>
            <a:ext cx="3200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Experience Category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480560" y="1691640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Fresher (0 yrs) · Junior (1–3 yrs) · Senior (4+ yrs)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1106424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E4EAEA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697480"/>
            <a:ext cx="201168" cy="20116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1188720" y="2468880"/>
            <a:ext cx="3200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Academic Band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480560" y="2468880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of SSC/HSC/Degree % → Excellent / Good / Average / Poor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3246120"/>
            <a:ext cx="11064240" cy="658368"/>
          </a:xfrm>
          <a:prstGeom prst="roundRect">
            <a:avLst>
              <a:gd name="adj" fmla="val 9722"/>
            </a:avLst>
          </a:prstGeom>
          <a:solidFill>
            <a:srgbClr val="F2F7F7"/>
          </a:solidFill>
          <a:ln w="12700">
            <a:solidFill>
              <a:srgbClr val="E4EA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474720"/>
            <a:ext cx="201168" cy="20116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3246120"/>
            <a:ext cx="3200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Skills Match Level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480560" y="3246120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Skills-match % bucketed into High / Medium / Low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4023360"/>
            <a:ext cx="11064240" cy="658368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12700">
            <a:solidFill>
              <a:srgbClr val="E4EA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77240" y="4251960"/>
            <a:ext cx="201168" cy="20116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1188720" y="4023360"/>
            <a:ext cx="3200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Interview Performance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480560" y="4023360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Avg. of technical, aptitude &amp; communication → Excellent/Good/Average/Poor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4800600"/>
            <a:ext cx="11064240" cy="868680"/>
          </a:xfrm>
          <a:prstGeom prst="roundRect">
            <a:avLst>
              <a:gd name="adj" fmla="val 7368"/>
            </a:avLst>
          </a:prstGeom>
          <a:solidFill>
            <a:srgbClr val="F2F7F7"/>
          </a:solidFill>
          <a:ln w="12700">
            <a:solidFill>
              <a:srgbClr val="E4EAE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7240" y="5134356"/>
            <a:ext cx="201168" cy="201168"/>
          </a:xfrm>
          <a:prstGeom prst="ellipse">
            <a:avLst/>
          </a:prstGeom>
          <a:solidFill>
            <a:srgbClr val="02C39A"/>
          </a:solidFill>
          <a:ln/>
        </p:spPr>
      </p:sp>
      <p:sp>
        <p:nvSpPr>
          <p:cNvPr id="22" name="Text 20"/>
          <p:cNvSpPr/>
          <p:nvPr/>
        </p:nvSpPr>
        <p:spPr>
          <a:xfrm>
            <a:off x="1188720" y="4800600"/>
            <a:ext cx="32004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Placement Probability Score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480560" y="4800600"/>
            <a:ext cx="6903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composite: 30% technical + 20% aptitude + 20% communication + 20% skills match + 10% degree %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Acceptance Prediction System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73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Database Integration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9FC5C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data made queryable at scale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12080" cy="4206240"/>
          </a:xfrm>
          <a:prstGeom prst="roundRect">
            <a:avLst>
              <a:gd name="adj" fmla="val 1739"/>
            </a:avLst>
          </a:prstGeom>
          <a:solidFill>
            <a:srgbClr val="0B4148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92024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Pipeline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14400" y="2377440"/>
            <a:ext cx="466344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+ engineered dataset (50,000 × 34) uploaded via SQLAlchemy.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Stored in PostgreSQL (Render-hosted) as table job_placement_data.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Loaded in 10,000-row chunks using a multi-row insert method.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with COUNT(*) and GROUP BY queries directly against the database.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737360"/>
            <a:ext cx="5257800" cy="1280160"/>
          </a:xfrm>
          <a:prstGeom prst="roundRect">
            <a:avLst>
              <a:gd name="adj" fmla="val 5714"/>
            </a:avLst>
          </a:prstGeom>
          <a:solidFill>
            <a:srgbClr val="0B4148"/>
          </a:solidFill>
          <a:ln/>
        </p:spPr>
      </p:sp>
      <p:sp>
        <p:nvSpPr>
          <p:cNvPr id="8" name="Text 6"/>
          <p:cNvSpPr/>
          <p:nvPr/>
        </p:nvSpPr>
        <p:spPr>
          <a:xfrm>
            <a:off x="6537960" y="1874520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50,000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6537960" y="2423160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AD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records inserted &amp;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in Postgres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6263640" y="3246120"/>
            <a:ext cx="5257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 counts by status (SQL GROUP BY)</a:t>
            </a:r>
            <a:endParaRPr lang="en-US" sz="1200" dirty="0"/>
          </a:p>
        </p:txBody>
      </p:sp>
      <p:graphicFrame>
        <p:nvGraphicFramePr>
          <p:cNvPr id="11" name="Chart 0" descr=""/>
          <p:cNvGraphicFramePr/>
          <p:nvPr/>
        </p:nvGraphicFramePr>
        <p:xfrm>
          <a:off x="6263640" y="3566160"/>
          <a:ext cx="5257800" cy="2286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Text 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7FA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Acceptance Prediction System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A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Learning Pipeline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features to a trained classifier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97480" cy="3291840"/>
          </a:xfrm>
          <a:prstGeom prst="roundRect">
            <a:avLst>
              <a:gd name="adj" fmla="val 2712"/>
            </a:avLst>
          </a:prstGeom>
          <a:solidFill>
            <a:srgbClr val="F2F7F7"/>
          </a:solidFill>
          <a:ln/>
          <a:effectLst>
            <a:outerShdw sx="100000" sy="100000" kx="0" ky="0" algn="bl" rotWithShape="0" blurRad="63500" dist="25400" dir="5400000">
              <a:srgbClr val="666666">
                <a:alpha val="1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202996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 / Test Split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77240" y="3246120"/>
            <a:ext cx="224028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 train (40,000) / 20% test (10,000), stratified on status.</a:t>
            </a:r>
            <a:endParaRPr lang="en-US" sz="1080" dirty="0"/>
          </a:p>
        </p:txBody>
      </p:sp>
      <p:sp>
        <p:nvSpPr>
          <p:cNvPr id="8" name="Text 6"/>
          <p:cNvSpPr/>
          <p:nvPr/>
        </p:nvSpPr>
        <p:spPr>
          <a:xfrm>
            <a:off x="3250692" y="3246120"/>
            <a:ext cx="1280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383280" y="1828800"/>
            <a:ext cx="2697480" cy="3291840"/>
          </a:xfrm>
          <a:prstGeom prst="roundRect">
            <a:avLst>
              <a:gd name="adj" fmla="val 2712"/>
            </a:avLst>
          </a:prstGeom>
          <a:solidFill>
            <a:srgbClr val="F2F7F7"/>
          </a:solidFill>
          <a:ln/>
          <a:effectLst>
            <a:outerShdw sx="100000" sy="100000" kx="0" ky="0" algn="bl" rotWithShape="0" blurRad="63500" dist="25400" dir="5400000">
              <a:srgbClr val="666666">
                <a:alpha val="1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611880" y="202996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11880" y="260604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Preprocessing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3611880" y="3246120"/>
            <a:ext cx="224028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ColumnTransformer: StandardScaler on 18 numeric columns, OneHotEncoder on 15 categorical columns — fit on training data only.</a:t>
            </a:r>
            <a:endParaRPr lang="en-US" sz="1080" dirty="0"/>
          </a:p>
        </p:txBody>
      </p:sp>
      <p:sp>
        <p:nvSpPr>
          <p:cNvPr id="13" name="Text 11"/>
          <p:cNvSpPr/>
          <p:nvPr/>
        </p:nvSpPr>
        <p:spPr>
          <a:xfrm>
            <a:off x="6085332" y="3246120"/>
            <a:ext cx="1280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6217920" y="1828800"/>
            <a:ext cx="2697480" cy="3291840"/>
          </a:xfrm>
          <a:prstGeom prst="roundRect">
            <a:avLst>
              <a:gd name="adj" fmla="val 2712"/>
            </a:avLst>
          </a:prstGeom>
          <a:solidFill>
            <a:srgbClr val="028090"/>
          </a:solidFill>
          <a:ln/>
          <a:effectLst>
            <a:outerShdw sx="100000" sy="100000" kx="0" ky="0" algn="bl" rotWithShape="0" blurRad="63500" dist="25400" dir="5400000">
              <a:srgbClr val="666666">
                <a:alpha val="15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46520" y="202996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446520" y="260604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Training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6446520" y="3246120"/>
            <a:ext cx="224028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E7F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classifiers compared: Logistic Regression, Random Forest (class-balanced), Decision Tree.</a:t>
            </a:r>
            <a:endParaRPr lang="en-US" sz="1080" dirty="0"/>
          </a:p>
        </p:txBody>
      </p:sp>
      <p:sp>
        <p:nvSpPr>
          <p:cNvPr id="18" name="Text 16"/>
          <p:cNvSpPr/>
          <p:nvPr/>
        </p:nvSpPr>
        <p:spPr>
          <a:xfrm>
            <a:off x="8919972" y="3246120"/>
            <a:ext cx="12801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9052560" y="1828800"/>
            <a:ext cx="2697480" cy="3291840"/>
          </a:xfrm>
          <a:prstGeom prst="roundRect">
            <a:avLst>
              <a:gd name="adj" fmla="val 2712"/>
            </a:avLst>
          </a:prstGeom>
          <a:solidFill>
            <a:srgbClr val="F2F7F7"/>
          </a:solidFill>
          <a:ln/>
          <a:effectLst>
            <a:outerShdw sx="100000" sy="100000" kx="0" ky="0" algn="bl" rotWithShape="0" blurRad="63500" dist="25400" dir="5400000">
              <a:srgbClr val="666666">
                <a:alpha val="15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9281160" y="2029968"/>
            <a:ext cx="548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2C3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9281160" y="260604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9281160" y="3246120"/>
            <a:ext cx="2240280" cy="1691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08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Precision, Recall and F1-score computed on the held-out test set for the 'Placed' class.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548640" y="544068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Numeric columns: age, exam &amp; score percentages, certifications, experience, CTC, notice period, employment gap, engineered ratios/averages.  Categorical columns: gender, degree specialization, tier, competition level, bond requirement, engineered bands.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Acceptance Prediction System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Comparison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classifiers evaluated on the same held-out test set</a:t>
            </a:r>
            <a:endParaRPr lang="en-US" sz="13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645920"/>
          <a:ext cx="7315200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8001000" y="1645920"/>
            <a:ext cx="3611880" cy="4480560"/>
          </a:xfrm>
          <a:prstGeom prst="roundRect">
            <a:avLst>
              <a:gd name="adj" fmla="val 2025"/>
            </a:avLst>
          </a:prstGeom>
          <a:solidFill>
            <a:srgbClr val="07333A"/>
          </a:solidFill>
          <a:ln/>
        </p:spPr>
      </p:sp>
      <p:sp>
        <p:nvSpPr>
          <p:cNvPr id="6" name="Text 3"/>
          <p:cNvSpPr/>
          <p:nvPr/>
        </p:nvSpPr>
        <p:spPr>
          <a:xfrm>
            <a:off x="8275320" y="182880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Model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8275320" y="2194560"/>
            <a:ext cx="3108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Forest</a:t>
            </a:r>
            <a:endParaRPr lang="en-US" sz="2400" dirty="0"/>
          </a:p>
        </p:txBody>
      </p:sp>
      <p:sp>
        <p:nvSpPr>
          <p:cNvPr id="8" name="Text 5"/>
          <p:cNvSpPr/>
          <p:nvPr/>
        </p:nvSpPr>
        <p:spPr>
          <a:xfrm>
            <a:off x="8275320" y="297180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966960" y="2971800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88.31%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275320" y="3374136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9966960" y="3374136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85.29%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8275320" y="3776472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9966960" y="377647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74.16%</a:t>
            </a:r>
            <a:endParaRPr lang="en-US" sz="1350" dirty="0"/>
          </a:p>
        </p:txBody>
      </p:sp>
      <p:sp>
        <p:nvSpPr>
          <p:cNvPr id="14" name="Text 11"/>
          <p:cNvSpPr/>
          <p:nvPr/>
        </p:nvSpPr>
        <p:spPr>
          <a:xfrm>
            <a:off x="8275320" y="4178808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9966960" y="4178808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350" b="1" dirty="0">
                <a:solidFill>
                  <a:srgbClr val="00A8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79.34%</a:t>
            </a:r>
            <a:endParaRPr lang="en-US" sz="1350" dirty="0"/>
          </a:p>
        </p:txBody>
      </p:sp>
      <p:sp>
        <p:nvSpPr>
          <p:cNvPr id="16" name="Shape 13"/>
          <p:cNvSpPr/>
          <p:nvPr/>
        </p:nvSpPr>
        <p:spPr>
          <a:xfrm>
            <a:off x="8275320" y="4608576"/>
            <a:ext cx="3154680" cy="0"/>
          </a:xfrm>
          <a:prstGeom prst="line">
            <a:avLst/>
          </a:prstGeom>
          <a:noFill/>
          <a:ln w="12700">
            <a:solidFill>
              <a:srgbClr val="1E5A5C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275320" y="4764024"/>
            <a:ext cx="31546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CAD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generalizes best, with the strongest balance of precision and recall for identifying placed candidates.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Acceptance Prediction System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Confusion Matrix — Random Forest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Breaking down the 10,000 test-set predictions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Predicted: Not Placed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46120" y="1417320"/>
            <a:ext cx="2468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Predicted: Placed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40080" y="1783080"/>
            <a:ext cx="2468880" cy="1554480"/>
          </a:xfrm>
          <a:prstGeom prst="roundRect">
            <a:avLst>
              <a:gd name="adj" fmla="val 4118"/>
            </a:avLst>
          </a:prstGeom>
          <a:solidFill>
            <a:srgbClr val="00A896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92024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6,587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77240" y="25146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Negative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28346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7F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Actually Not Placed → Predicted Not Placed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246120" y="1783080"/>
            <a:ext cx="2468880" cy="1554480"/>
          </a:xfrm>
          <a:prstGeom prst="roundRect">
            <a:avLst>
              <a:gd name="adj" fmla="val 4118"/>
            </a:avLst>
          </a:prstGeom>
          <a:solidFill>
            <a:srgbClr val="E0E6E5"/>
          </a:solidFill>
          <a:ln/>
        </p:spPr>
      </p:sp>
      <p:sp>
        <p:nvSpPr>
          <p:cNvPr id="11" name="Text 9"/>
          <p:cNvSpPr/>
          <p:nvPr/>
        </p:nvSpPr>
        <p:spPr>
          <a:xfrm>
            <a:off x="3383280" y="192024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387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3383280" y="251460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Positive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3383280" y="28346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Actually Not Placed → Predicted Placed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640080" y="3474720"/>
            <a:ext cx="2468880" cy="1554480"/>
          </a:xfrm>
          <a:prstGeom prst="roundRect">
            <a:avLst>
              <a:gd name="adj" fmla="val 4118"/>
            </a:avLst>
          </a:prstGeom>
          <a:solidFill>
            <a:srgbClr val="E0E6E5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61188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782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77240" y="42062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2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77240" y="45262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Actually Placed → Predicted Not Placed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246120" y="3474720"/>
            <a:ext cx="2468880" cy="1554480"/>
          </a:xfrm>
          <a:prstGeom prst="roundRect">
            <a:avLst>
              <a:gd name="adj" fmla="val 4118"/>
            </a:avLst>
          </a:prstGeom>
          <a:solidFill>
            <a:srgbClr val="028090"/>
          </a:solidFill>
          <a:ln/>
        </p:spPr>
      </p:sp>
      <p:sp>
        <p:nvSpPr>
          <p:cNvPr id="19" name="Text 17"/>
          <p:cNvSpPr/>
          <p:nvPr/>
        </p:nvSpPr>
        <p:spPr>
          <a:xfrm>
            <a:off x="3383280" y="3611880"/>
            <a:ext cx="2194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2,244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3383280" y="420624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Positive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383280" y="452628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850" dirty="0">
                <a:solidFill>
                  <a:srgbClr val="E7F3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Actually Placed → Predicted Placed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594360" y="3977640"/>
            <a:ext cx="45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Actual:</a:t>
            </a:r>
            <a:endParaRPr lang="en-US" sz="100" dirty="0"/>
          </a:p>
          <a:p>
            <a:pPr indent="0" marL="0">
              <a:buNone/>
            </a:pPr>
            <a:r>
              <a:rPr lang="en-US" sz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Placed ↓</a:t>
            </a:r>
            <a:endParaRPr lang="en-US" sz="100" dirty="0"/>
          </a:p>
        </p:txBody>
      </p:sp>
      <p:sp>
        <p:nvSpPr>
          <p:cNvPr id="23" name="Text 21"/>
          <p:cNvSpPr/>
          <p:nvPr/>
        </p:nvSpPr>
        <p:spPr>
          <a:xfrm>
            <a:off x="6263640" y="160020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Summary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263640" y="2011680"/>
            <a:ext cx="521208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predictions evaluated: 6,587 + 387 + 782 + 2,244 = 10,000 candidates.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accuracy: (6,587 + 2,244) / 10,000 = 88.31%.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negatives (782) outnumber false positives (387) — the model is more likely to miss a placed candidate than to wrongly flag one.</a:t>
            </a:r>
            <a:endParaRPr lang="en-US" sz="1200" dirty="0"/>
          </a:p>
          <a:p>
            <a:pPr marL="342900" indent="-342900">
              <a:lnSpc>
                <a:spcPct val="125000"/>
              </a:lnSpc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HR use, this favors precision: candidates flagged 'Placed' are correct 85% of the time.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Acceptance Prediction System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Business Insights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drives placement outcomes across the candidate pool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2148840"/>
          </a:xfrm>
          <a:prstGeom prst="roundRect">
            <a:avLst>
              <a:gd name="adj" fmla="val 2979"/>
            </a:avLst>
          </a:prstGeom>
          <a:solidFill>
            <a:srgbClr val="F2F7F7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801368"/>
            <a:ext cx="365760" cy="73152"/>
          </a:xfrm>
          <a:prstGeom prst="roundRect">
            <a:avLst/>
          </a:prstGeom>
          <a:solidFill>
            <a:srgbClr val="02C39A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984248"/>
            <a:ext cx="320954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Experience is the strongest lever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49808" y="2651760"/>
            <a:ext cx="320954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 probability climbs from 13.8% (fresher) to 59.7% (senior, 4+ yrs) — the clearest single driver of outcome.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379976" y="1600200"/>
            <a:ext cx="3611880" cy="2148840"/>
          </a:xfrm>
          <a:prstGeom prst="roundRect">
            <a:avLst>
              <a:gd name="adj" fmla="val 2979"/>
            </a:avLst>
          </a:prstGeom>
          <a:solidFill>
            <a:srgbClr val="F2F7F7"/>
          </a:solidFill>
          <a:ln/>
        </p:spPr>
      </p:sp>
      <p:sp>
        <p:nvSpPr>
          <p:cNvPr id="9" name="Shape 7"/>
          <p:cNvSpPr/>
          <p:nvPr/>
        </p:nvSpPr>
        <p:spPr>
          <a:xfrm>
            <a:off x="4581144" y="1801368"/>
            <a:ext cx="365760" cy="73152"/>
          </a:xfrm>
          <a:prstGeom prst="roundRect">
            <a:avLst/>
          </a:prstGeom>
          <a:solidFill>
            <a:srgbClr val="02C39A"/>
          </a:solidFill>
          <a:ln/>
        </p:spPr>
      </p:sp>
      <p:sp>
        <p:nvSpPr>
          <p:cNvPr id="10" name="Text 8"/>
          <p:cNvSpPr/>
          <p:nvPr/>
        </p:nvSpPr>
        <p:spPr>
          <a:xfrm>
            <a:off x="4581144" y="1984248"/>
            <a:ext cx="320954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skill separates candidates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4581144" y="2651760"/>
            <a:ext cx="320954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Placed candidates average 75.3 in technical score vs. 64.9 for non-placed — a 10+ point gap, larger than aptitude or communication.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211312" y="1600200"/>
            <a:ext cx="3611880" cy="2148840"/>
          </a:xfrm>
          <a:prstGeom prst="roundRect">
            <a:avLst>
              <a:gd name="adj" fmla="val 2979"/>
            </a:avLst>
          </a:prstGeom>
          <a:solidFill>
            <a:srgbClr val="F2F7F7"/>
          </a:solidFill>
          <a:ln/>
        </p:spPr>
      </p:sp>
      <p:sp>
        <p:nvSpPr>
          <p:cNvPr id="13" name="Shape 11"/>
          <p:cNvSpPr/>
          <p:nvPr/>
        </p:nvSpPr>
        <p:spPr>
          <a:xfrm>
            <a:off x="8412480" y="1801368"/>
            <a:ext cx="365760" cy="73152"/>
          </a:xfrm>
          <a:prstGeom prst="roundRect">
            <a:avLst/>
          </a:prstGeom>
          <a:solidFill>
            <a:srgbClr val="02C39A"/>
          </a:solidFill>
          <a:ln/>
        </p:spPr>
      </p:sp>
      <p:sp>
        <p:nvSpPr>
          <p:cNvPr id="14" name="Text 12"/>
          <p:cNvSpPr/>
          <p:nvPr/>
        </p:nvSpPr>
        <p:spPr>
          <a:xfrm>
            <a:off x="8412480" y="1984248"/>
            <a:ext cx="320954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Academic scores matter less than expected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8412480" y="2651760"/>
            <a:ext cx="320954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average is nearly identical between placed (71.98) and non-placed (72.05) candidates — a weak standalone predictor.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48640" y="4005072"/>
            <a:ext cx="3611880" cy="2148840"/>
          </a:xfrm>
          <a:prstGeom prst="roundRect">
            <a:avLst>
              <a:gd name="adj" fmla="val 2979"/>
            </a:avLst>
          </a:prstGeom>
          <a:solidFill>
            <a:srgbClr val="F2F7F7"/>
          </a:solidFill>
          <a:ln/>
        </p:spPr>
      </p:sp>
      <p:sp>
        <p:nvSpPr>
          <p:cNvPr id="17" name="Shape 15"/>
          <p:cNvSpPr/>
          <p:nvPr/>
        </p:nvSpPr>
        <p:spPr>
          <a:xfrm>
            <a:off x="749808" y="4206240"/>
            <a:ext cx="365760" cy="73152"/>
          </a:xfrm>
          <a:prstGeom prst="roundRect">
            <a:avLst/>
          </a:prstGeom>
          <a:solidFill>
            <a:srgbClr val="02C39A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" y="4389120"/>
            <a:ext cx="320954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Company tier &amp; competition are minor factors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49808" y="5056632"/>
            <a:ext cx="320954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Placement rate barely varies by company tier (29.9–30.5%); high competition drags the rate down to 23.8% vs ~32% elsewhere.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379976" y="4005072"/>
            <a:ext cx="3611880" cy="2148840"/>
          </a:xfrm>
          <a:prstGeom prst="roundRect">
            <a:avLst>
              <a:gd name="adj" fmla="val 2979"/>
            </a:avLst>
          </a:prstGeom>
          <a:solidFill>
            <a:srgbClr val="F2F7F7"/>
          </a:solidFill>
          <a:ln/>
        </p:spPr>
      </p:sp>
      <p:sp>
        <p:nvSpPr>
          <p:cNvPr id="21" name="Shape 19"/>
          <p:cNvSpPr/>
          <p:nvPr/>
        </p:nvSpPr>
        <p:spPr>
          <a:xfrm>
            <a:off x="4581144" y="4206240"/>
            <a:ext cx="365760" cy="73152"/>
          </a:xfrm>
          <a:prstGeom prst="roundRect">
            <a:avLst/>
          </a:prstGeom>
          <a:solidFill>
            <a:srgbClr val="02C39A"/>
          </a:solidFill>
          <a:ln/>
        </p:spPr>
      </p:sp>
      <p:sp>
        <p:nvSpPr>
          <p:cNvPr id="22" name="Text 20"/>
          <p:cNvSpPr/>
          <p:nvPr/>
        </p:nvSpPr>
        <p:spPr>
          <a:xfrm>
            <a:off x="4581144" y="4389120"/>
            <a:ext cx="320954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Certifications show little effect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4581144" y="5056632"/>
            <a:ext cx="320954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certification count is almost the same for placed (1.39) and non-placed (1.40) candidates in this dataset.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8211312" y="4005072"/>
            <a:ext cx="3611880" cy="2148840"/>
          </a:xfrm>
          <a:prstGeom prst="roundRect">
            <a:avLst>
              <a:gd name="adj" fmla="val 2979"/>
            </a:avLst>
          </a:prstGeom>
          <a:solidFill>
            <a:srgbClr val="F2F7F7"/>
          </a:solidFill>
          <a:ln/>
        </p:spPr>
      </p:sp>
      <p:sp>
        <p:nvSpPr>
          <p:cNvPr id="25" name="Shape 23"/>
          <p:cNvSpPr/>
          <p:nvPr/>
        </p:nvSpPr>
        <p:spPr>
          <a:xfrm>
            <a:off x="8412480" y="4206240"/>
            <a:ext cx="365760" cy="73152"/>
          </a:xfrm>
          <a:prstGeom prst="roundRect">
            <a:avLst/>
          </a:prstGeom>
          <a:solidFill>
            <a:srgbClr val="02C39A"/>
          </a:solidFill>
          <a:ln/>
        </p:spPr>
      </p:sp>
      <p:sp>
        <p:nvSpPr>
          <p:cNvPr id="26" name="Text 24"/>
          <p:cNvSpPr/>
          <p:nvPr/>
        </p:nvSpPr>
        <p:spPr>
          <a:xfrm>
            <a:off x="8412480" y="4389120"/>
            <a:ext cx="3209544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B2A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Composite scores track outcome well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8412480" y="5056632"/>
            <a:ext cx="3209544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Interview average and placement-probability score are both meaningfully higher for placed candidates, validating the engineered features.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Acceptance Prediction System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B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733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371600" y="-1371600"/>
            <a:ext cx="4114800" cy="4114800"/>
          </a:xfrm>
          <a:prstGeom prst="ellipse">
            <a:avLst/>
          </a:prstGeom>
          <a:solidFill>
            <a:srgbClr val="0B4148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4389120"/>
            <a:ext cx="3657600" cy="3657600"/>
          </a:xfrm>
          <a:prstGeom prst="ellipse">
            <a:avLst/>
          </a:prstGeom>
          <a:solidFill>
            <a:srgbClr val="0B4148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02920"/>
            <a:ext cx="10515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Next Steps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640080" y="137160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539496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clean, engineered candidate dataset (50,000 rows) was built and stored in PostgreSQL for scalable analysis.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 is the recommended model: 88.3% accuracy, 0.79 F1-score on the 'Placed' class.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level and technical score are the strongest predictors of placement; academic scores and certifications are weaker signals.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6309360" y="1371600"/>
            <a:ext cx="5212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Recommended Next Steps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309360" y="1737360"/>
            <a:ext cx="53949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Tune Random Forest (hyperparameter search) and test gradient-boosted models (XGBoost/LightGBM) for further F1 gains.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 false negatives by adjusting the classification threshold or applying cost-sensitive learning.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live scoring dashboard on top of the PostgreSQL table for recruiter use.</a:t>
            </a:r>
            <a:endParaRPr lang="en-US" sz="1250" dirty="0"/>
          </a:p>
          <a:p>
            <a:pPr marL="342900" indent="-342900">
              <a:lnSpc>
                <a:spcPct val="130000"/>
              </a:lnSpc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CADC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Periodically retrain as new placement outcomes are recorded to keep predictions current.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5623560"/>
            <a:ext cx="10972800" cy="0"/>
          </a:xfrm>
          <a:prstGeom prst="line">
            <a:avLst/>
          </a:prstGeom>
          <a:noFill/>
          <a:ln w="12700">
            <a:solidFill>
              <a:srgbClr val="1E5A5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58064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FA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Job Acceptance Prediction System — Analysis &amp; Prediction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64922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274552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FA8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2026-08-23T14:53:05Z</dcterms:created>
  <dcterms:modified xsi:type="dcterms:W3CDTF">2026-08-23T14:53:05Z</dcterms:modified>
</cp:coreProperties>
</file>